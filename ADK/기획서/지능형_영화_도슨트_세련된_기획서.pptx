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0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0F0F0"/>
                </a:solidFill>
                <a:latin typeface="Malgun Gothic"/>
              </a:defRPr>
            </a:pPr>
            <a:r>
              <a:t>🎬 [프로젝트 기획서 v2.0]</a:t>
            </a:r>
            <a:br/>
            <a:r>
              <a:t>지능형 영화 큐레이션 도슨트 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00FFC8"/>
                </a:solidFill>
                <a:latin typeface="Malgun Gothic"/>
              </a:defRPr>
            </a:pPr>
            <a:r>
              <a:t>정보의 홍수에서 '통찰'을 건져내다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" cy="68580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4572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00FFC8"/>
                </a:solidFill>
                <a:latin typeface="Malgun Gothic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4572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0F0F0"/>
                </a:solidFill>
                <a:latin typeface="Malgun Gothic"/>
              </a:defRPr>
            </a:pPr>
            <a:r>
              <a:t>프로젝트 기획 취지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1188720"/>
            <a:ext cx="1371600" cy="45720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1645920"/>
            <a:ext cx="6217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00FFC8"/>
                </a:solidFill>
              </a:defRPr>
            </a:pPr>
            <a:r>
              <a:t>리뷰의 파편화 해소</a:t>
            </a:r>
          </a:p>
          <a:p>
            <a:pPr>
              <a:spcAft>
                <a:spcPts val="1500"/>
              </a:spcAft>
              <a:defRPr sz="1400">
                <a:solidFill>
                  <a:srgbClr val="F0F0F0"/>
                </a:solidFill>
              </a:defRPr>
            </a:pPr>
            <a:r>
              <a:t>방대한 데이터 속에서 핵심 파악을 방해하는 번거로움과 상반된 평가 문제를 해결합니다.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834640"/>
            <a:ext cx="6217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00FFC8"/>
                </a:solidFill>
              </a:defRPr>
            </a:pPr>
            <a:r>
              <a:t>흩어진 지식의 통합</a:t>
            </a:r>
          </a:p>
          <a:p>
            <a:pPr>
              <a:spcAft>
                <a:spcPts val="1500"/>
              </a:spcAft>
              <a:defRPr sz="1400">
                <a:solidFill>
                  <a:srgbClr val="F0F0F0"/>
                </a:solidFill>
              </a:defRPr>
            </a:pPr>
            <a:r>
              <a:t>촬영지, 비하인드, OST 등 산재한 정보를 한곳으로 모아 접근성을 높입니다.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4023360"/>
            <a:ext cx="6217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00FFC8"/>
                </a:solidFill>
              </a:defRPr>
            </a:pPr>
            <a:r>
              <a:t>경험의 확장</a:t>
            </a:r>
          </a:p>
          <a:p>
            <a:pPr>
              <a:spcAft>
                <a:spcPts val="1500"/>
              </a:spcAft>
              <a:defRPr sz="1400">
                <a:solidFill>
                  <a:srgbClr val="F0F0F0"/>
                </a:solidFill>
              </a:defRPr>
            </a:pPr>
            <a:r>
              <a:t>핵심 키워드와 숨겨진 정보를 연결하여 풍부한 '디지털 도슨트' 경험을 제공합니다.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" cy="68580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4572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00FFC8"/>
                </a:solidFill>
                <a:latin typeface="Malgun Gothic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4572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0F0F0"/>
                </a:solidFill>
                <a:latin typeface="Malgun Gothic"/>
              </a:defRPr>
            </a:pPr>
            <a:r>
              <a:t>핵심 아키텍처: 하이브리드 전략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1188720"/>
            <a:ext cx="1371600" cy="45720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1645920"/>
            <a:ext cx="6217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00FFC8"/>
                </a:solidFill>
              </a:defRPr>
            </a:pPr>
            <a:r>
              <a:t>RAG (Semantic Layer)</a:t>
            </a:r>
          </a:p>
          <a:p>
            <a:pPr>
              <a:spcAft>
                <a:spcPts val="1500"/>
              </a:spcAft>
              <a:defRPr sz="1400">
                <a:solidFill>
                  <a:srgbClr val="F0F0F0"/>
                </a:solidFill>
              </a:defRPr>
            </a:pPr>
            <a:r>
              <a:t>LLM(Gemini, Gemma)을 활용해 문장의 의미와 뉘앙스 분석 및 추상적 질문 대응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834640"/>
            <a:ext cx="6217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00FFC8"/>
                </a:solidFill>
              </a:defRPr>
            </a:pPr>
            <a:r>
              <a:t>Database (Storage &amp; Keyword)</a:t>
            </a:r>
          </a:p>
          <a:p>
            <a:pPr>
              <a:spcAft>
                <a:spcPts val="1500"/>
              </a:spcAft>
              <a:defRPr sz="1400">
                <a:solidFill>
                  <a:srgbClr val="F0F0F0"/>
                </a:solidFill>
              </a:defRPr>
            </a:pPr>
            <a:r>
              <a:t>원문 보관을 통한 신뢰도 확보 및 명확한 키워드 기반의 초고속 검색 지원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" cy="68580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4572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00FFC8"/>
                </a:solidFill>
                <a:latin typeface="Malgun Gothic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4572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0F0F0"/>
                </a:solidFill>
                <a:latin typeface="Malgun Gothic"/>
              </a:defRPr>
            </a:pPr>
            <a:r>
              <a:t>지능형 리뷰 분석 시스템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1188720"/>
            <a:ext cx="1371600" cy="45720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1645920"/>
            <a:ext cx="6217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00FFC8"/>
                </a:solidFill>
              </a:defRPr>
            </a:pPr>
            <a:r>
              <a:t>핵심 키워드 연결</a:t>
            </a:r>
          </a:p>
          <a:p>
            <a:pPr>
              <a:spcAft>
                <a:spcPts val="1500"/>
              </a:spcAft>
              <a:defRPr sz="1400">
                <a:solidFill>
                  <a:srgbClr val="F0F0F0"/>
                </a:solidFill>
              </a:defRPr>
            </a:pPr>
            <a:r>
              <a:t>연기, 연출, 서사, 고증 등 카테고리별 리뷰 분류 및 메타데이터 결합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834640"/>
            <a:ext cx="6217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00FFC8"/>
                </a:solidFill>
              </a:defRPr>
            </a:pPr>
            <a:r>
              <a:t>장르별 가변 지표</a:t>
            </a:r>
          </a:p>
          <a:p>
            <a:pPr>
              <a:spcAft>
                <a:spcPts val="1500"/>
              </a:spcAft>
              <a:defRPr sz="1400">
                <a:solidFill>
                  <a:srgbClr val="F0F0F0"/>
                </a:solidFill>
              </a:defRPr>
            </a:pPr>
            <a:r>
              <a:t>SF/사극(고증, 세계관), 액션/공포(타격감, 긴장감) 등 장르 특화 분석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4023360"/>
            <a:ext cx="6217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00FFC8"/>
                </a:solidFill>
              </a:defRPr>
            </a:pPr>
            <a:r>
              <a:t>논리적 호불호 분석</a:t>
            </a:r>
          </a:p>
          <a:p>
            <a:pPr>
              <a:spcAft>
                <a:spcPts val="1500"/>
              </a:spcAft>
              <a:defRPr sz="1400">
                <a:solidFill>
                  <a:srgbClr val="F0F0F0"/>
                </a:solidFill>
              </a:defRPr>
            </a:pPr>
            <a:r>
              <a:t>상반된 리뷰를 대조하여 사용자 성향에 최적화된 판단 가이드 제공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" cy="68580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4572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00FFC8"/>
                </a:solidFill>
                <a:latin typeface="Malgun Gothic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4572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0F0F0"/>
                </a:solidFill>
                <a:latin typeface="Malgun Gothic"/>
              </a:defRPr>
            </a:pPr>
            <a:r>
              <a:t>영화 TMI 수집 및 도슨트 기능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1188720"/>
            <a:ext cx="1371600" cy="45720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1645920"/>
            <a:ext cx="6217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00FFC8"/>
                </a:solidFill>
              </a:defRPr>
            </a:pPr>
            <a:r>
              <a:t>리뷰 기반 유무 확인</a:t>
            </a:r>
          </a:p>
          <a:p>
            <a:pPr>
              <a:spcAft>
                <a:spcPts val="1500"/>
              </a:spcAft>
              <a:defRPr sz="1400">
                <a:solidFill>
                  <a:srgbClr val="F0F0F0"/>
                </a:solidFill>
              </a:defRPr>
            </a:pPr>
            <a:r>
              <a:t>노출, 베드신, 쿠키 등 특정 키워드 추출을 통한 편의 정보 판단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834640"/>
            <a:ext cx="6217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00FFC8"/>
                </a:solidFill>
              </a:defRPr>
            </a:pPr>
            <a:r>
              <a:t>LLM 기반 그라운딩 &amp; DB화</a:t>
            </a:r>
          </a:p>
          <a:p>
            <a:pPr>
              <a:spcAft>
                <a:spcPts val="1500"/>
              </a:spcAft>
              <a:defRPr sz="1400">
                <a:solidFill>
                  <a:srgbClr val="F0F0F0"/>
                </a:solidFill>
              </a:defRPr>
            </a:pPr>
            <a:r>
              <a:t>SerpAPI 등을 활용한 최신 정보 수집 및 구조화된 데이터 저장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4023360"/>
            <a:ext cx="6217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00FFC8"/>
                </a:solidFill>
              </a:defRPr>
            </a:pPr>
            <a:r>
              <a:t>대화형 상담 세션</a:t>
            </a:r>
          </a:p>
          <a:p>
            <a:pPr>
              <a:spcAft>
                <a:spcPts val="1500"/>
              </a:spcAft>
              <a:defRPr sz="1400">
                <a:solidFill>
                  <a:srgbClr val="F0F0F0"/>
                </a:solidFill>
              </a:defRPr>
            </a:pPr>
            <a:r>
              <a:t>RAG와 DB, 실시간 그라운딩이 결합된 고도화된 답변 생성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